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Lon — AI 사업제안서 자동 생성기</a:t>
            </a:r>
          </a:p>
          <a:p>
            <a:pPr>
              <a:defRPr sz="2400">
                <a:solidFill>
                  <a:srgbClr val="3B82F6"/>
                </a:solidFill>
                <a:latin typeface="맑은 고딕"/>
              </a:defRPr>
            </a:pPr>
            <a:r>
              <a:t>화면 설계서 (Screen Design)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CCCCC"/>
                </a:solidFill>
                <a:latin typeface="맑은 고딕"/>
              </a:defRPr>
            </a:pPr>
            <a:r>
              <a:t>v0.1 (초안)   |   2026-05-03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  <a:latin typeface="맑은 고딕"/>
              </a:defRPr>
            </a:pPr>
            <a:r>
              <a:t>1. 화면 목록</a:t>
            </a:r>
          </a:p>
          <a:p>
            <a:pPr>
              <a:defRPr sz="1300">
                <a:solidFill>
                  <a:srgbClr val="666666"/>
                </a:solidFill>
                <a:latin typeface="맑은 고딕"/>
              </a:defRPr>
            </a:pPr>
            <a:r>
              <a:t>전체 11화면, 권한 분리(USER/ADMIN)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ID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화면명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URL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설명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권한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S-000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로그인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/login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로컬 계정 로그인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비회원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S-010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홈/대시보드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/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최근 사업, 산출물 통계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사용자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사업제안서 생성기(메인)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/generator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이미지 기준 메인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사용자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S-110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사업 목록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/projects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저장된 사업 목록/검색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사용자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S-111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사업 상세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/projects/:id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사업 정보 + 산출물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사용자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S-120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산출물 미리보기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/projects/:id/preview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PPTX/XLSX 미리보기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사용자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S-200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AI 키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/settings/ai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Provider별 키 등록·검증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사용자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S-210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환경 설정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/settings/env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언어/테마/저장 경로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사용자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S-300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표준 목차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/admin/category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제안서 카테고리 마스터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관리자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S-310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사용자 관리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/admin/users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계정/권한 관리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관리자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S-900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에러/접근 거부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/error/:code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4xx/5xx 공통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공통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맑은 고딕"/>
              </a:defRPr>
            </a:pPr>
            <a:r>
              <a:t>Lon · 화면설계서  |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  <a:latin typeface="맑은 고딕"/>
              </a:defRPr>
            </a:pPr>
            <a:r>
              <a:t>2. 공통 영역 &amp; 디자인 토큰</a:t>
            </a:r>
          </a:p>
          <a:p>
            <a:pPr>
              <a:defRPr sz="1300">
                <a:solidFill>
                  <a:srgbClr val="666666"/>
                </a:solidFill>
                <a:latin typeface="맑은 고딕"/>
              </a:defRPr>
            </a:pPr>
            <a:r>
              <a:t>다크 테마 / 카드형 UI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[Top Bar]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로고 · 사업명 · 사용자메뉴 · 알림 · 테마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[Side]                 [Content]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생성기                 ① AI 선택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사업                   ② 분석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설정                   ③ 정보 입력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            ④ 산출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               ⑤ 카테고리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[Footer] © Lon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0" y="1280160"/>
          <a:ext cx="5577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토큰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값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--color-bg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#0F1623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다크 배경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--color-surface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#1A2332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카드 배경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--color-primary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#3B82F6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CTA 버튼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--color-accent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#10B981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성공/생성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--color-danger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#EF4444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에러/Not Found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--radius-md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12px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카드 라운드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--font-ko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맑은 고딕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본문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맑은 고딕"/>
              </a:defRPr>
            </a:pPr>
            <a:r>
              <a:t>Lon · 화면설계서  |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  <a:latin typeface="맑은 고딕"/>
              </a:defRPr>
            </a:pPr>
            <a:r>
              <a:t>3. S-100 사업제안서 생성기 — 와이어프레임</a:t>
            </a:r>
          </a:p>
          <a:p>
            <a:pPr>
              <a:defRPr sz="1300">
                <a:solidFill>
                  <a:srgbClr val="666666"/>
                </a:solidFill>
                <a:latin typeface="맑은 고딕"/>
              </a:defRPr>
            </a:pPr>
            <a:r>
              <a:t>이미지 5개 영역 매핑 (① ~ ⑤)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6858000" cy="73152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맑은 고딕"/>
              </a:defRPr>
            </a:pPr>
            <a:r>
              <a:t>① AI 서비스 선택  [ChatGPT][Gemini✓][Claude]  Key/Model  [테스트][상태]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6858000" cy="82296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맑은 고딕"/>
              </a:defRPr>
            </a:pPr>
            <a:r>
              <a:t>② 데이터 파일(MD) 분석  [공고문 Drop] [관련산출물 Drop]  [분석 시작]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6858000" cy="182880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맑은 고딕"/>
              </a:defRPr>
            </a:pPr>
            <a:r>
              <a:t>③ 사업 정보 입력  (회사명/사업명/목표/범위/일정/조직/인력/비용 등 12 필드)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937760"/>
            <a:ext cx="6858000" cy="64008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맑은 고딕"/>
              </a:defRPr>
            </a:pPr>
            <a:r>
              <a:t>④ 산출 사항  ☑ PPTX  ☑ XLSX   [PPTX 생성] [WBS 생성]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669280"/>
            <a:ext cx="6858000" cy="640080"/>
          </a:xfrm>
          <a:prstGeom prst="roundRect">
            <a:avLst/>
          </a:prstGeom>
          <a:solidFill>
            <a:srgbClr val="1A23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맑은 고딕"/>
              </a:defRPr>
            </a:pPr>
            <a:r>
              <a:t>⑤ 표준 목차 카테고리 카드 그리드 (사업개요·일반사항·기술요구·…)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98079" y="1280160"/>
          <a:ext cx="4206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컴포넌트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이벤트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ProviderCard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onChange→리셋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①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ApiKeyInput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onBlur→마스킹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BtnTest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→ /api/llm/test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②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Dropzone×2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onDrop→검증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BtnAnalyze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→ /files/analyze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③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ProjectForm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onChange→자동저장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BtnGenPPTX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→ /generate/pptx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④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BtnGenWBS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→ /generate/wbs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CategoryCard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→ 상세 모달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맑은 고딕"/>
              </a:defRPr>
            </a:pPr>
            <a:r>
              <a:t>Lon · 화면설계서  |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  <a:latin typeface="맑은 고딕"/>
              </a:defRPr>
            </a:pPr>
            <a:r>
              <a:t>4. S-100 컴포넌트 상세 명세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86861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코드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컴포넌트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필수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검증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이벤트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C-101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ProviderCard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라디오(카드3)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1개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onChange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C-102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ApiKeyInput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password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Y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길이≥10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onBlur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C-103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ModelSelect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select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provider별 옵션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onChange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C-104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BtnTest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button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키 입력시 활성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→/api/llm/test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C-201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UploadDropzone×2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drag&amp;drop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≤10MB, ext 화이트리스트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onDrop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C-202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BtnAnalyze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button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첨부 1개 이상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→/api/files/analyze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C-301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TextField×7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일부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길이/형식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자동저장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C-302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TextArea×7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textarea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일부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1000자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자동저장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C-401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Checkbox×2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checkbox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1개 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onChange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C-402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BtnGenPPTX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button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④ 1개 체크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→/api/generate/pptx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C-403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BtnGenWBS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④ 1개 체크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→/api/generate/wbs</a:t>
                      </a:r>
                    </a:p>
                  </a:txBody>
                  <a:tcPr/>
                </a:tc>
              </a:tr>
              <a:tr h="38686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C-501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CategoryCard×N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card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→상세 모달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맑은 고딕"/>
              </a:defRPr>
            </a:pPr>
            <a:r>
              <a:t>Lon · 화면설계서  |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  <a:latin typeface="맑은 고딕"/>
              </a:defRPr>
            </a:pPr>
            <a:r>
              <a:t>5. 검증 규칙 &amp; 상태 머신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6858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342900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대상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규칙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회사명/사업명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1~80자, 특수문자 &lt; &gt; 금지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API Key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provider별 정규식 (sk-, AIza, sk-ant-)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첨부 파일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PDF/DOCX/TXT/MD only, ≤10MB / ≤30MB(합)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추진 예산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숫자 + 단위 (예: 1,200,000,000원)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TextArea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1000자, XSS 이스케이프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28016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[생성 버튼 상태 머신]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idle → click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  → validating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→ OK → generating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→ done → success → download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 → fail → error</a:t>
            </a:r>
          </a:p>
          <a:p>
            <a:pPr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→ fail →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맑은 고딕"/>
              </a:defRPr>
            </a:pPr>
            <a:r>
              <a:t>Lon · 화면설계서  |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  <a:latin typeface="맑은 고딕"/>
              </a:defRPr>
            </a:pPr>
            <a:r>
              <a:t>6. 사용자 흐름 (User Flow)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286000"/>
            <a:ext cx="1783080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1. 로그인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48840" y="2606040"/>
            <a:ext cx="137160" cy="27432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0" y="2286000"/>
            <a:ext cx="178308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2. 키 검증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69080" y="2606040"/>
            <a:ext cx="137160" cy="27432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2286000"/>
            <a:ext cx="178308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3. 첨부 분석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89320" y="2606040"/>
            <a:ext cx="137160" cy="27432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2286000"/>
            <a:ext cx="178308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4. 폼 보완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909560" y="2606040"/>
            <a:ext cx="137160" cy="27432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2286000"/>
            <a:ext cx="1783080" cy="9144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5. PPTX 생성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829800" y="2606040"/>
            <a:ext cx="137160" cy="27432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66960" y="2286000"/>
            <a:ext cx="1783080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6. 미리보기/다운로드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기존 사업 재활용:  S-110 검색 → S-111 상세 → [복제] → S-100 사전채움 → ④ 재생성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맑은 고딕"/>
              </a:defRPr>
            </a:pPr>
            <a:r>
              <a:t>Lon · 화면설계서  |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  <a:latin typeface="맑은 고딕"/>
              </a:defRPr>
            </a:pPr>
            <a:r>
              <a:t>7. 권한별 메뉴 노출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메뉴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USER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ADMIN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비로그인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1. 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2. 사업제안서 생성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✓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✓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3. 사업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4. 산출물 라이브러리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✓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✓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5.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6. 관리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✓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7. 도움말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✓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로그인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–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✓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맑은 고딕"/>
              </a:defRPr>
            </a:pPr>
            <a:r>
              <a:t>Lon · 화면설계서  |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  <a:latin typeface="맑은 고딕"/>
              </a:defRPr>
            </a:pPr>
            <a:r>
              <a:t>8. 반응형·접근성 / 에러 표시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정책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Breakpoint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≥1280 3-col / 768~1279 2-col / &lt;768 1-col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키보드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Tab 순서 보장, ESC 모달 닫기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명도 대비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WCAG AA, 색단독 의미금지(아이콘 병기)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폰트 fallback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맑은 고딕 → Malgun Gothic → Apple SD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0" y="1280160"/>
          <a:ext cx="55778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케이스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맑은 고딕"/>
                        </a:rPr>
                        <a:t>UI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API 키 무효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Badge red + 토스트 + 입력 적색 보더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파일 초과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Dropzone 내부 inline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LLM 타임아웃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모달 + 재시도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서버 5xx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S-900 + traceId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99999"/>
                </a:solidFill>
                <a:latin typeface="맑은 고딕"/>
              </a:defRPr>
            </a:pPr>
            <a:r>
              <a:t>Lon · 화면설계서  |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End of Screen Design</a:t>
            </a:r>
          </a:p>
          <a:p>
            <a:pPr algn="ctr">
              <a:defRPr sz="1400">
                <a:solidFill>
                  <a:srgbClr val="AAAAAA"/>
                </a:solidFill>
                <a:latin typeface="맑은 고딕"/>
              </a:defRPr>
            </a:pPr>
            <a:r>
              <a:t>Next: DB 설계서 (db-design.xlsx) / 연계 정의서 (interface-spec.xlsx)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